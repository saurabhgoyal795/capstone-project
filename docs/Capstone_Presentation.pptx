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Capstone project: an end-to-end GenAI pipeline that turns raw customer complaint documents into structured case data, a customer reply email and an internal case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 teams spend a lot of time just reading documents. The goal is to automate triage and first response while keeping facts grounded in the source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chained AI tasks. Extraction feeds both email and summary so all outputs share the same validated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Ingestion loads and normalises files; the pipeline runs extraction then a RunnableParallel of email and summary; writers persist everything. The LLM is injected via a provider-agnostic factory configured from .env (OpenAI, Gemini, local Ollama or AWS Bedrock).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levels of concurrency: RunnableParallel inside a document, ThreadPoolExecutor across documents. Results are returned in input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AI task returns a validated Pydantic model. Native structured output is tried first; if the provider fails, a repair-and-retry fallback takes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Controls operate at three layers: prompt instructions, schema constraints, and post-hoc verification in code against the source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Failures are isolated at every level so one bad document never stops the batch. Thread names in the log make concurrent processing traceable.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values are copied from the real output files for complaint_001. The email restates only the refund and reference number present in the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data from output/final_report.csv and run_summary.json (local Ollama glm-4.7-flash). Escalations were flagged for the laptop defect, late TV delivery and unpaid refund; the pure enquiry (006) was correctly marked is_complaint = No. The same batch on AWS Bedrock Nova 2 Lite took 8.6 s instead of 127.4 s with the same 6 success / 1 failed result and the same contact, category and flag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Switching providers is a one-line .env change (LLM_PROVIDER=bedrock uses the AWS credential chain). Tests cover ingestion, JSON repair, retries, guardrails, parallelism and failure isolation without calling a real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Streamlit app runs in a Docker container on a small Graviton EC2 instance. The container calls Amazon Bedrock (Nova 2 Lite) with credentials from the instance's IAM role, so no API keys live on the server. User-data clones the public GitHub repo, builds the image and runs it on port 80 with --restart unless-stopped; redeploys run redeploy.sh through SSM Run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the system is working end to end; next steps focus on OCR, evaluation metrics and integration with a real ticketing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IIT PATNA  |  GENAI DEVELOPMENT PROGRAM  |  FINAL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5156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AI Customer Complaint &amp; Case Processing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429000"/>
            <a:ext cx="20116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BD5E1"/>
                </a:solidFill>
                <a:latin typeface="Calibri"/>
              </a:rPr>
              <a:t>Batch 1  •  Project 1: AI-Powered Document Processing &amp; Business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Saurabh Goyal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BD5E1"/>
                </a:solidFill>
                <a:latin typeface="Calibri"/>
              </a:rPr>
              <a:t>September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598932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600" b="0" i="0">
                <a:solidFill>
                  <a:srgbClr val="14B8A6"/>
                </a:solidFill>
                <a:latin typeface="Calibri"/>
              </a:rPr>
              <a:t>Python • LangChain • Pydantic •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265176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57200" y="1499616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0F1F3D"/>
                </a:solidFill>
                <a:latin typeface="Calibri"/>
              </a:rPr>
              <a:t>Unstructured inputs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Complaints arrive as PDFs, Word files, emails, chat logs and forms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9272" y="1417320"/>
            <a:ext cx="26517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319272" y="1499616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0F1F3D"/>
                </a:solidFill>
                <a:latin typeface="Calibri"/>
              </a:rPr>
              <a:t>Manual triage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Agents read every document to find the customer, issue, category and urgency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417320"/>
            <a:ext cx="265176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181344" y="1499616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0F1F3D"/>
                </a:solidFill>
                <a:latin typeface="Calibri"/>
              </a:rPr>
              <a:t>Slow, uneven replies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Response quality and tone depend on who picks up the case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43416" y="1417320"/>
            <a:ext cx="26517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043416" y="1499616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0F1F3D"/>
                </a:solidFill>
                <a:latin typeface="Calibri"/>
              </a:rPr>
              <a:t>No structured record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Hard to report, route or escalate without clean case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69080"/>
            <a:ext cx="11274552" cy="1920240"/>
          </a:xfrm>
          <a:prstGeom prst="roundRect">
            <a:avLst>
              <a:gd name="adj" fmla="val 8000"/>
            </a:avLst>
          </a:prstGeom>
          <a:solidFill>
            <a:srgbClr val="E6F7F5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1078992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2937"/>
                </a:solidFill>
                <a:latin typeface="Calibri"/>
              </a:rPr>
              <a:t>Automatically turn each raw complaint document into (1) validated structured case data, (2) an empathetic customer reply and (3) an internal case summary — reliably, without hallucinated facts, and at batch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F1F3D"/>
                </a:solidFill>
                <a:latin typeface="Calibri"/>
              </a:rPr>
              <a:t>Input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data/ folder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PDF • DOCX • TXT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7 sample files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(1 deliberately corrupt)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417320"/>
            <a:ext cx="1005840" cy="109728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200400" y="1417320"/>
            <a:ext cx="10058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Task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41732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F1F3D"/>
                </a:solidFill>
                <a:latin typeface="Calibri"/>
              </a:rPr>
              <a:t>Structured Extraction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11 fields validated by a Pydantic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743200"/>
            <a:ext cx="1005840" cy="109728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10058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Task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74320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F1F3D"/>
                </a:solidFill>
                <a:latin typeface="Calibri"/>
              </a:rPr>
              <a:t>Customer Email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Empathetic, grounded reply with guardrail checks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4069080"/>
            <a:ext cx="1005840" cy="109728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00400" y="4069080"/>
            <a:ext cx="10058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Task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406908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F1F3D"/>
                </a:solidFill>
                <a:latin typeface="Calibri"/>
              </a:rPr>
              <a:t>Case Summary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5-section internal brief incl. next 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1828800"/>
            <a:ext cx="2999232" cy="2926080"/>
          </a:xfrm>
          <a:prstGeom prst="roundRect">
            <a:avLst>
              <a:gd name="adj" fmla="val 8000"/>
            </a:avLst>
          </a:prstGeom>
          <a:solidFill>
            <a:srgbClr val="E6F7F5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F1F3D"/>
                </a:solidFill>
                <a:latin typeface="Calibri"/>
              </a:rPr>
              <a:t>Outputs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onsolas"/>
              </a:rPr>
              <a:t>structured_data/*.json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onsolas"/>
              </a:rPr>
              <a:t>customer_emails/*.txt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onsolas"/>
              </a:rPr>
              <a:t>case_summaries/*.md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onsolas"/>
              </a:rPr>
              <a:t>final_report.csv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onsolas"/>
              </a:rPr>
              <a:t>run_summary.json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06040" y="3291840"/>
            <a:ext cx="54864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92440" y="3291840"/>
            <a:ext cx="59436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5577840"/>
            <a:ext cx="1127455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0F1F3D"/>
                </a:solidFill>
                <a:latin typeface="Consolas"/>
              </a:rPr>
              <a:t>One command:  python main.py --provider ollama --workers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4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325880"/>
            <a:ext cx="4846320" cy="30632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4B8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880360" y="1353312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CaseProcessingPipeline  (runs once per document)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74519"/>
            <a:ext cx="20116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Input documents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data/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PDF, DOCX, 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1874519"/>
            <a:ext cx="20116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1. Extraction chain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extraction prompt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structured_call()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contact sanitiser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→ ComplaintExtraction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1874519"/>
            <a:ext cx="2103120" cy="2286000"/>
          </a:xfrm>
          <a:prstGeom prst="roundRect">
            <a:avLst>
              <a:gd name="adj" fmla="val 8000"/>
            </a:avLst>
          </a:prstGeom>
          <a:solidFill>
            <a:srgbClr val="E6F7F5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49240" y="1920239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RunnableParallel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2286000"/>
            <a:ext cx="18288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F1F3D"/>
                </a:solidFill>
                <a:latin typeface="Calibri"/>
              </a:rPr>
              <a:t>2. Email chain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+ guardrails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200400"/>
            <a:ext cx="18288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F1F3D"/>
                </a:solidFill>
                <a:latin typeface="Calibri"/>
              </a:rPr>
              <a:t>3. Summary chain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5 sections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182880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Writers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JSON per doc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email .txt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summary .md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CSV report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run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874519"/>
            <a:ext cx="1600200" cy="228600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output/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case pack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per document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+ batch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434840"/>
            <a:ext cx="201168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F1F3D"/>
                </a:solidFill>
                <a:latin typeface="Calibri"/>
              </a:rPr>
              <a:t>Ingestion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pypdf • python-docx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normalise + truncate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23160" y="3017520"/>
            <a:ext cx="50292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029200" y="3017520"/>
            <a:ext cx="27432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98079" y="3017520"/>
            <a:ext cx="502921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21240" y="3017520"/>
            <a:ext cx="27432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71600" y="4206240"/>
            <a:ext cx="0" cy="201168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971800" y="4846320"/>
            <a:ext cx="44805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F1F3D"/>
                </a:solidFill>
                <a:latin typeface="Calibri"/>
              </a:rPr>
              <a:t>LLM Factory  •  get_llm(settings)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OpenAI  •  Gemini  •  Ollama (local)  •  AWS Bedrock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484632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F1F3D"/>
                </a:solidFill>
                <a:latin typeface="Calibri"/>
              </a:rPr>
              <a:t>Config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.env → Settings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CLI flags override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4846320"/>
            <a:ext cx="16002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0F1F3D"/>
                </a:solidFill>
                <a:latin typeface="Calibri"/>
              </a:rPr>
              <a:t>Logging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console +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logs/app.log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498079" y="5463540"/>
            <a:ext cx="502921" cy="0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977639" y="4206240"/>
            <a:ext cx="0" cy="621792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400800" y="4206240"/>
            <a:ext cx="0" cy="621792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Workflow: 3 AI Tasks + Two Levels of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5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Per document (LangChain)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Document text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normalised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057400"/>
            <a:ext cx="1920240" cy="118872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Task 1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Extraction → validated 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45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Task 2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Customer email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2743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Task 3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Case summary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2651760"/>
            <a:ext cx="36576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17720" y="2103120"/>
            <a:ext cx="457200" cy="41148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617720" y="2788920"/>
            <a:ext cx="457200" cy="41148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37760" y="37033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RunnableParallel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0624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Extraction first: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email + summary both reuse its JSON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Status per doc: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success / partial / failed</a:t>
            </a:r>
          </a:p>
          <a:p>
            <a:pPr>
              <a:spcAft>
                <a:spcPts val="800"/>
              </a:spcAft>
            </a:pPr>
            <a:r>
              <a:rPr sz="11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Real run (doc 001):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email 29.8 s ‖ summary 23.2 s, concurrent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1188720"/>
            <a:ext cx="4325112" cy="5074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20" y="128016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Across documents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1600200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56070"/>
                </a:solidFill>
                <a:latin typeface="Consolas"/>
              </a:rPr>
              <a:t>ThreadPoolExecutor, max_workers=3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2057400"/>
            <a:ext cx="1920240" cy="548640"/>
          </a:xfrm>
          <a:prstGeom prst="roundRect">
            <a:avLst>
              <a:gd name="adj" fmla="val 8000"/>
            </a:avLst>
          </a:prstGeom>
          <a:solidFill>
            <a:srgbClr val="1C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doc-worker_0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057400"/>
            <a:ext cx="2011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F2937"/>
                </a:solidFill>
                <a:latin typeface="Consolas"/>
              </a:rPr>
              <a:t>003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114800"/>
            <a:ext cx="402336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F1F3D"/>
                </a:solidFill>
                <a:latin typeface="Calibri"/>
              </a:rPr>
              <a:t>127.4 s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556070"/>
                </a:solidFill>
                <a:latin typeface="Calibri"/>
              </a:rPr>
              <a:t>wall time for 7 files, 3 workers</a:t>
            </a:r>
          </a:p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≈ 2.7× faster than sequential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6070"/>
                </a:solidFill>
                <a:latin typeface="Calibri"/>
              </a:rPr>
              <a:t>(6 × 58.0 s avg ≈ 348 s estimated)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Structured Output &amp; Pydantic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ComplaintExtraction (11 fields)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45920"/>
          <a:ext cx="5669280" cy="42245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customer_name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str | null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email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str | null (normalised)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phone_number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str | null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product_or_service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str | null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complaint_category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enum (8)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issue_description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str (1-3 sentences)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resolution_provided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str | null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is_complaint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Yes / No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escalation_required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Yes / No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supporting_document_available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Yes / No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F3D"/>
                          </a:solidFill>
                          <a:latin typeface="Consolas"/>
                        </a:rPr>
                        <a:t>overall_case_status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enum (5)</a:t>
                      </a:r>
                    </a:p>
                  </a:txBody>
                  <a:tcPr marT="27432" marB="27432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92240" y="1188720"/>
            <a:ext cx="5239512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Enums keep the model on-rails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Category: Billing, Product Defect, Service Quality, Delivery, Technical Issue, Refund, Account, Other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Status: Open, In Progress, Resolved, Escalated, 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8892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structured_call(): 3-step safety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246120"/>
            <a:ext cx="640080" cy="86868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3246120"/>
            <a:ext cx="64008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3246120"/>
            <a:ext cx="459943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Native structured output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with_structured_output (Ollama: JSON-schema grammar)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4270248"/>
            <a:ext cx="640080" cy="86868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92240" y="4270248"/>
            <a:ext cx="64008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4270248"/>
            <a:ext cx="459943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Fallback parser + repair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format instructions; strip &lt;think&gt;, fences, trailing commas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5294376"/>
            <a:ext cx="640080" cy="86868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92240" y="5294376"/>
            <a:ext cx="64008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5294376"/>
            <a:ext cx="459943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One retry with feedback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validation error sent back to the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Prompt Engineering &amp; Hallucination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7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361188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3611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Prompt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3611880" cy="3429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3337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Role-specific system prompts per task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Document wrapped in &lt;document&gt; tags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Explicit category &amp; status definitions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Status precedence rule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Temperature 0.1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325880"/>
            <a:ext cx="3611880" cy="548640"/>
          </a:xfrm>
          <a:prstGeom prst="rect">
            <a:avLst/>
          </a:prstGeom>
          <a:solidFill>
            <a:srgbClr val="1C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288536" y="1325880"/>
            <a:ext cx="3611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Grounding rules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874519"/>
            <a:ext cx="3611880" cy="3429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25696" y="2057400"/>
            <a:ext cx="3337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1" i="0">
                <a:solidFill>
                  <a:srgbClr val="1C335E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Use ONLY facts in the document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1C335E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Missing field → null, never "N/A"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1C335E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Request ≠ resolution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1C335E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No promised refunds, dates or credits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1C335E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No placeholders like [Name]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325880"/>
            <a:ext cx="3611880" cy="548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19872" y="1325880"/>
            <a:ext cx="3611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Code-level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874519"/>
            <a:ext cx="3611880" cy="3429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57032" y="2057400"/>
            <a:ext cx="3337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1" i="0">
                <a:solidFill>
                  <a:srgbClr val="F59E0B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Extracted email/phone must appear in source, else set to null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F59E0B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Email guardrail flags unknown contacts &amp; placeholders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F59E0B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Enum + validator enforce allowed 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Evidence from the run: no phone in source (005) → phone_number = null, not invented. Unresolved cases (002, 004, 005) keep resolution_provided = null.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Error Handling &amp;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8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109728" cy="65836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1920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File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325880"/>
            <a:ext cx="4206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Corrupt / empty / unsupported files are recorded as ingestion errors; batch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12264"/>
            <a:ext cx="109728" cy="65836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2112264"/>
            <a:ext cx="1920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Task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112264"/>
            <a:ext cx="4206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Each task runs guarded; extraction failure → failed, email/summary failure → partial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98648"/>
            <a:ext cx="109728" cy="65836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898648"/>
            <a:ext cx="1920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Worker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898648"/>
            <a:ext cx="4206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_safe_process() guard: a worker thread never raises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85032"/>
            <a:ext cx="109728" cy="65836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" y="3685032"/>
            <a:ext cx="1920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Provider 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685032"/>
            <a:ext cx="4206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LLM timeouts + max_retries (botocore retries on Bedrock); native → fallback → retry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71416"/>
            <a:ext cx="109728" cy="65836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" y="4471416"/>
            <a:ext cx="1920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Config level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71416"/>
            <a:ext cx="42062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Settings.validate(): bad provider or missing API key → clear error, exit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1325880"/>
            <a:ext cx="4645152" cy="342900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69480" y="141732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B8A6"/>
                </a:solidFill>
                <a:latin typeface="Calibri"/>
              </a:rPr>
              <a:t>logs/app.log (real run excerpt)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1828800"/>
            <a:ext cx="434340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CA5A5"/>
                </a:solidFill>
                <a:latin typeface="Consolas"/>
              </a:rPr>
              <a:t>ERROR  ingestion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Failed to ingest corrupted_007.pdf: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PdfStreamError: Stream has ended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99F6E4"/>
                </a:solidFill>
                <a:latin typeface="Consolas"/>
              </a:rPr>
              <a:t>INFO  doc-worker_0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[complaint_001] step 1/2 extraction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ok in 10.71s (category=Billing)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[complaint_001] step 2/2 email ok 29.79s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[complaint_001] step 2/2 summary ok 23.21s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[1/6] complaint_001.pdf done (success, 40.5s)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892040"/>
            <a:ext cx="4645152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6070"/>
                </a:solidFill>
                <a:latin typeface="Calibri"/>
              </a:rPr>
              <a:t>Format: time | level | thread | module | message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6070"/>
                </a:solidFill>
                <a:latin typeface="Calibri"/>
              </a:rPr>
              <a:t>Console + rotating file (logs/app.log)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Sample: complaint_001.pdf →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9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Input (PDF form, excerpt)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Customer: Arjun Mehta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Plan: FiberMax 300 Mbps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“My August 2026 invoice shows Rs. 2,398, which is exactly double.”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Resolution: refund of Rs. 1,199 (ref RF-77120), corrected invoice issued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Attachments: invoice, bank statement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69080" y="3268980"/>
            <a:ext cx="365760" cy="0"/>
          </a:xfrm>
          <a:prstGeom prst="line">
            <a:avLst/>
          </a:prstGeom>
          <a:ln w="3175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1234440"/>
            <a:ext cx="3840480" cy="406908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17720" y="13258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B8A6"/>
                </a:solidFill>
                <a:latin typeface="Calibri"/>
              </a:rPr>
              <a:t>Task 1: structured 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783080"/>
            <a:ext cx="365760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{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 "customer_name": "Arjun Mehta",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 "complaint_category": "Billing",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 "is_complaint": "Yes",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 "escalation_required": "No",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 "supporting_document_available": "Yes",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 "overall_case_status": "Closed"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749039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+ email, phone, product, issue_description, resolution_provided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234440"/>
            <a:ext cx="3136392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Task 2: customer email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Subject: Update on your billing concern - FiberMax 300 Mbps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“...a refund of Rs. 1,199 has been processed (Ref: RF-77120)”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3566160"/>
            <a:ext cx="313639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Task 3: case summary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Key issue: plan billed twice (Rs. 2,398 vs 1,199)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Next action: No further action required.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32120"/>
            <a:ext cx="1127455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Every fact in the email and summary traces back to the source: same refund amount, same reference, no invented dates or contacts.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Results: Real Run + Provider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10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7680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08760"/>
                <a:gridCol w="1097280"/>
                <a:gridCol w="123444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anchor="ctr" marL="54864" marR="54864"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54864" marR="54864"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Escalation</a:t>
                      </a:r>
                    </a:p>
                  </a:txBody>
                  <a:tcPr anchor="ctr" marL="54864" marR="54864"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Case status</a:t>
                      </a:r>
                    </a:p>
                  </a:txBody>
                  <a:tcPr anchor="ctr" marL="54864" marR="54864"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anchor="ctr" marL="54864" marR="54864"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Time (s)</a:t>
                      </a:r>
                    </a:p>
                  </a:txBody>
                  <a:tcPr anchor="ctr" marL="54864" marR="54864">
                    <a:solidFill>
                      <a:srgbClr val="0F1F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complaint_001.pdf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Billing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Closed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6A34A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60.1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complaint_002.pdf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Product Defect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DC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6A34A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73.2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complaint_003.txt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Technical Issue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6A34A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complaint_004.docx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Delivery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DC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Escalated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6A34A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55.0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complaint_005.pdf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Refund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DC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Escalated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6A34A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57.7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complaint_006.txt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Closed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6A34A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 anchor="ctr" marL="54864" marR="54864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corrupted_007.pdf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DC2626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983480"/>
            <a:ext cx="7680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56070"/>
                </a:solidFill>
                <a:latin typeface="Calibri"/>
              </a:rPr>
              <a:t>corrupted_007.pdf: PdfStreamError → logged, reported, batch continued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937"/>
                </a:solidFill>
                <a:latin typeface="Calibri"/>
              </a:rPr>
              <a:t>Ollama glm-4.7-flash (local, 3 workers)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5550408"/>
            <a:ext cx="3566160" cy="237744"/>
          </a:xfrm>
          <a:prstGeom prst="rect">
            <a:avLst/>
          </a:prstGeom>
          <a:solidFill>
            <a:srgbClr val="55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06640" y="548640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1F3D"/>
                </a:solidFill>
                <a:latin typeface="Calibri"/>
              </a:rPr>
              <a:t>127.4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16168"/>
            <a:ext cx="3291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937"/>
                </a:solidFill>
                <a:latin typeface="Calibri"/>
              </a:rPr>
              <a:t>Bedrock Nova 2 Lite (4 workers)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5980176"/>
            <a:ext cx="240729" cy="23774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081209" y="5916168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1F3D"/>
                </a:solidFill>
                <a:latin typeface="Calibri"/>
              </a:rPr>
              <a:t>8.6 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1280160"/>
            <a:ext cx="3227832" cy="1078992"/>
          </a:xfrm>
          <a:prstGeom prst="roundRect">
            <a:avLst>
              <a:gd name="adj" fmla="val 8000"/>
            </a:avLst>
          </a:prstGeom>
          <a:solidFill>
            <a:srgbClr val="E6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41080" y="1325880"/>
            <a:ext cx="3017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1F3D"/>
                </a:solidFill>
                <a:latin typeface="Calibri"/>
              </a:rPr>
              <a:t>6/7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90195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6070"/>
                </a:solidFill>
                <a:latin typeface="Calibri"/>
              </a:rPr>
              <a:t>documents succeeded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2496312"/>
            <a:ext cx="3227832" cy="1078992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41080" y="2542032"/>
            <a:ext cx="3017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1F3D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118104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6070"/>
                </a:solidFill>
                <a:latin typeface="Calibri"/>
              </a:rPr>
              <a:t>failed gracefully (corrupt PDF)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712464"/>
            <a:ext cx="3227832" cy="1078992"/>
          </a:xfrm>
          <a:prstGeom prst="roundRect">
            <a:avLst>
              <a:gd name="adj" fmla="val 8000"/>
            </a:avLst>
          </a:prstGeom>
          <a:solidFill>
            <a:srgbClr val="E6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41080" y="3758184"/>
            <a:ext cx="3017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1F3D"/>
                </a:solidFill>
                <a:latin typeface="Calibri"/>
              </a:rPr>
              <a:t>127.4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4334256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6070"/>
                </a:solidFill>
                <a:latin typeface="Calibri"/>
              </a:rPr>
              <a:t>total, 3 workers (local Ollama)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4928616"/>
            <a:ext cx="3227832" cy="1078992"/>
          </a:xfrm>
          <a:prstGeom prst="roundRect">
            <a:avLst>
              <a:gd name="adj" fmla="val 8000"/>
            </a:avLst>
          </a:prstGeom>
          <a:solidFill>
            <a:srgbClr val="E6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641080" y="4974336"/>
            <a:ext cx="3017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1F3D"/>
                </a:solidFill>
                <a:latin typeface="Calibri"/>
              </a:rPr>
              <a:t>~15×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550408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6070"/>
                </a:solidFill>
                <a:latin typeface="Calibri"/>
              </a:rPr>
              <a:t>faster on AWS Bedrock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Tech Stack &amp; Engineering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11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4B8A6"/>
                </a:solidFill>
                <a:latin typeface="Calibri"/>
              </a:rPr>
              <a:t>Stack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37360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Python 3.11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737360"/>
            <a:ext cx="2468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core language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39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2377439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LangChain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377439"/>
            <a:ext cx="2468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prompts, runnables, RunnableParallel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017520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Pydantic 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3017520"/>
            <a:ext cx="2468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schemas &amp; validation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57599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3657599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pypdf / python-docx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657599"/>
            <a:ext cx="2468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document ingestion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97679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4297679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LLM providers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4297679"/>
            <a:ext cx="2468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OpenAI, Gemini, Ollama, AWS Bedrock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37760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4937760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Streamlit • Docker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937760"/>
            <a:ext cx="2468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web UI, container on AWS EC2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77840"/>
            <a:ext cx="5303520" cy="5486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4360" y="5577840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pytest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577840"/>
            <a:ext cx="24688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offline tests (fake LLM)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234440"/>
            <a:ext cx="5394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4B8A6"/>
                </a:solidFill>
                <a:latin typeface="Calibri"/>
              </a:rPr>
              <a:t>Practices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1737360"/>
            <a:ext cx="54223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Config via .env: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provider, model, workers, timeouts; CLI flags override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Provider-agnostic factory: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get_llm() lazily imports only the chosen SDK; runs fully local with Ollama or on AWS Bedrock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Dependency injection: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pipeline takes any chat model, so tests use a fake LLM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Modular package: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ingestion • prompts • chains • pipeline • writers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14B8A6"/>
                </a:solidFill>
                <a:latin typeface="Calibri"/>
              </a:rPr>
              <a:t>■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Reproducible: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Git, requirements.txt, sample-data generator script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Web UI &amp; Cloud Deployment (AWS)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12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03120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User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web 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977639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0F1F3D"/>
                </a:solidFill>
                <a:latin typeface="Calibri"/>
              </a:rPr>
              <a:t>GitHub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public repo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234440"/>
            <a:ext cx="5943600" cy="41148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788920" y="1261872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Calibri"/>
              </a:rPr>
              <a:t>EC2 t4g.small  •  Amazon Linux 2023 (arm64)  •  ap-south-1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6916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E6F7F5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971800" y="1719072"/>
            <a:ext cx="5394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4B8A6"/>
                </a:solidFill>
                <a:latin typeface="Calibri"/>
              </a:rPr>
              <a:t>Docker container  (python:3.11-slim, non-root)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1488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Streamlit UI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app.py  •  :8501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1488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3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0F1F3D"/>
                </a:solidFill>
                <a:latin typeface="Calibri"/>
              </a:rPr>
              <a:t>Pipeline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extract → email ‖ 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3703320"/>
            <a:ext cx="2743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0F1F3D"/>
                </a:solidFill>
                <a:latin typeface="Calibri"/>
              </a:rPr>
              <a:t>user-data / redeploy.sh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git clone / pull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docker build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docker run -p 80:8501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3703320"/>
            <a:ext cx="24231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0F1F3D"/>
                </a:solidFill>
                <a:latin typeface="Calibri"/>
              </a:rPr>
              <a:t>IAM instance role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bedrock:InvokeModel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+ SSM managed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no API keys on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19202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Amazon Bedrock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Nova 2 Lite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ChatBedrockConverse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3977639"/>
            <a:ext cx="2606040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0F1F3D"/>
                </a:solidFill>
                <a:latin typeface="Calibri"/>
              </a:rPr>
              <a:t>SSM Run Command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runs redeploy.sh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on the EC2 host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2697480"/>
            <a:ext cx="96012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011680" y="2286000"/>
            <a:ext cx="658368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556070"/>
                </a:solidFill>
                <a:latin typeface="Calibri"/>
              </a:rPr>
              <a:t>HTTP :80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94960" y="2715768"/>
            <a:ext cx="54864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321040" y="2715768"/>
            <a:ext cx="82296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57400" y="4572000"/>
            <a:ext cx="777240" cy="0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251960" y="3337560"/>
            <a:ext cx="0" cy="338327"/>
          </a:xfrm>
          <a:prstGeom prst="line">
            <a:avLst/>
          </a:prstGeom>
          <a:ln w="25400">
            <a:solidFill>
              <a:srgbClr val="1C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321040" y="3566160"/>
            <a:ext cx="1371600" cy="548640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668512" y="4754880"/>
            <a:ext cx="475488" cy="0"/>
          </a:xfrm>
          <a:prstGeom prst="line">
            <a:avLst/>
          </a:prstGeom>
          <a:ln w="19050">
            <a:solidFill>
              <a:srgbClr val="556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65760" y="5486400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5513832"/>
            <a:ext cx="1106424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Live demo:  http://15.207.159.211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Sample or uploaded docs  •  metrics + report table  •  per-document tabs  •  CSV + zip download  •  run limits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Bar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8755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AI Customer Complaint &amp; Case Processing System  |  Saurabh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4183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13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 i="0">
                <a:solidFill>
                  <a:srgbClr val="DC2626"/>
                </a:solidFill>
                <a:latin typeface="Calibri"/>
              </a:rPr>
              <a:t>■  </a:t>
            </a:r>
            <a:r>
              <a:rPr sz="1900" b="0" i="0">
                <a:solidFill>
                  <a:srgbClr val="1F2937"/>
                </a:solidFill>
                <a:latin typeface="Calibri"/>
              </a:rPr>
              <a:t>No OCR: scanned PDFs yield no text</a:t>
            </a:r>
          </a:p>
          <a:p>
            <a:pPr>
              <a:spcAft>
                <a:spcPts val="1400"/>
              </a:spcAft>
            </a:pPr>
            <a:r>
              <a:rPr sz="1300" b="1" i="0">
                <a:solidFill>
                  <a:srgbClr val="DC2626"/>
                </a:solidFill>
                <a:latin typeface="Calibri"/>
              </a:rPr>
              <a:t>■  </a:t>
            </a:r>
            <a:r>
              <a:rPr sz="1900" b="0" i="0">
                <a:solidFill>
                  <a:srgbClr val="1F2937"/>
                </a:solidFill>
                <a:latin typeface="Calibri"/>
              </a:rPr>
              <a:t>Local model: ~58 s/doc (Bedrock ~4 s)</a:t>
            </a:r>
          </a:p>
          <a:p>
            <a:pPr>
              <a:spcAft>
                <a:spcPts val="1400"/>
              </a:spcAft>
            </a:pPr>
            <a:r>
              <a:rPr sz="1300" b="1" i="0">
                <a:solidFill>
                  <a:srgbClr val="DC2626"/>
                </a:solidFill>
                <a:latin typeface="Calibri"/>
              </a:rPr>
              <a:t>■  </a:t>
            </a:r>
            <a:r>
              <a:rPr sz="1900" b="0" i="0">
                <a:solidFill>
                  <a:srgbClr val="1F2937"/>
                </a:solidFill>
                <a:latin typeface="Calibri"/>
              </a:rPr>
              <a:t>Email guardrail warns, no auto-rewrite</a:t>
            </a:r>
          </a:p>
          <a:p>
            <a:pPr>
              <a:spcAft>
                <a:spcPts val="1400"/>
              </a:spcAft>
            </a:pPr>
            <a:r>
              <a:rPr sz="1300" b="1" i="0">
                <a:solidFill>
                  <a:srgbClr val="DC2626"/>
                </a:solidFill>
                <a:latin typeface="Calibri"/>
              </a:rPr>
              <a:t>■  </a:t>
            </a:r>
            <a:r>
              <a:rPr sz="1900" b="0" i="0">
                <a:solidFill>
                  <a:srgbClr val="1F2937"/>
                </a:solidFill>
                <a:latin typeface="Calibri"/>
              </a:rPr>
              <a:t>Small test set (7 files), no accuracy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394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6A34A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178308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 i="0">
                <a:solidFill>
                  <a:srgbClr val="16A34A"/>
                </a:solidFill>
                <a:latin typeface="Calibri"/>
              </a:rPr>
              <a:t>■  </a:t>
            </a:r>
            <a:r>
              <a:rPr sz="1900" b="0" i="0">
                <a:solidFill>
                  <a:srgbClr val="1F2937"/>
                </a:solidFill>
                <a:latin typeface="Calibri"/>
              </a:rPr>
              <a:t>OCR (Tesseract) + .eml ingestion</a:t>
            </a:r>
          </a:p>
          <a:p>
            <a:pPr>
              <a:spcAft>
                <a:spcPts val="1400"/>
              </a:spcAft>
            </a:pPr>
            <a:r>
              <a:rPr sz="1300" b="1" i="0">
                <a:solidFill>
                  <a:srgbClr val="16A34A"/>
                </a:solidFill>
                <a:latin typeface="Calibri"/>
              </a:rPr>
              <a:t>■  </a:t>
            </a:r>
            <a:r>
              <a:rPr sz="1900" b="0" i="0">
                <a:solidFill>
                  <a:srgbClr val="1F2937"/>
                </a:solidFill>
                <a:latin typeface="Calibri"/>
              </a:rPr>
              <a:t>Review/approve in the UI, HTTPS + auth</a:t>
            </a:r>
          </a:p>
          <a:p>
            <a:pPr>
              <a:spcAft>
                <a:spcPts val="1400"/>
              </a:spcAft>
            </a:pPr>
            <a:r>
              <a:rPr sz="1300" b="1" i="0">
                <a:solidFill>
                  <a:srgbClr val="16A34A"/>
                </a:solidFill>
                <a:latin typeface="Calibri"/>
              </a:rPr>
              <a:t>■  </a:t>
            </a:r>
            <a:r>
              <a:rPr sz="1900" b="0" i="0">
                <a:solidFill>
                  <a:srgbClr val="1F2937"/>
                </a:solidFill>
                <a:latin typeface="Calibri"/>
              </a:rPr>
              <a:t>Labelled eval set, field-level accuracy</a:t>
            </a:r>
          </a:p>
          <a:p>
            <a:pPr>
              <a:spcAft>
                <a:spcPts val="1400"/>
              </a:spcAft>
            </a:pPr>
            <a:r>
              <a:rPr sz="1300" b="1" i="0">
                <a:solidFill>
                  <a:srgbClr val="16A34A"/>
                </a:solidFill>
                <a:latin typeface="Calibri"/>
              </a:rPr>
              <a:t>■  </a:t>
            </a:r>
            <a:r>
              <a:rPr sz="1900" b="0" i="0">
                <a:solidFill>
                  <a:srgbClr val="1F2937"/>
                </a:solidFill>
                <a:latin typeface="Calibri"/>
              </a:rPr>
              <a:t>CRM / ticketing integration, auto-routing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892040"/>
            <a:ext cx="12191695" cy="1463040"/>
          </a:xfrm>
          <a:prstGeom prst="rect">
            <a:avLst/>
          </a:prstGeom>
          <a:solidFill>
            <a:srgbClr val="0F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200" y="4983480"/>
            <a:ext cx="11274552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Thank you  •  Questions?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15000"/>
            <a:ext cx="11274552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4B8A6"/>
                </a:solidFill>
                <a:latin typeface="Calibri"/>
              </a:rPr>
              <a:t>Saurabh Goyal  |  IIT Patna GenAI Development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