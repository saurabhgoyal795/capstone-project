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Capstone project: an end-to-end GenAI pipeline that turns raw customer complaint documents into structured case data, a customer reply email and an internal case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Support teams spend a lot of time just reading documents. The goal is to automate triage and first response while keeping facts grounded in the source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chained AI tasks. Extraction feeds both email and summary so all outputs share the same validated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Ingestion loads and normalises files; the pipeline runs extraction then a RunnableParallel of email and summary; writers persist everything. The LLM is injected via a provider-agnostic factory configured from .env.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levels of concurrency: RunnableParallel inside a document, ThreadPoolExecutor across documents. Results are returned in input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AI task returns a validated Pydantic model. Native structured output is tried first; if the provider fails, a repair-and-retry fallback takes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Controls operate at three layers: prompt instructions, schema constraints, and post-hoc verification in code against the source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Failures are isolated at every level so one bad document never stops the batch. Thread names in the log make concurrent processing traceable.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values are copied from the real output files for complaint_001. The email restates only the refund and reference number present in the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from output/final_report.csv and run_summary.json. Escalations were flagged for the laptop defect, late TV delivery and unpaid refund; the pure enquiry (006) was correctly marked is_complaint = 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Switching providers is a one-line .env change. Tests cover ingestion, JSON repair, retries, guardrails, parallelism and failure isolation without calling a real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Closing: the system is working end to end; next steps focus on OCR, evaluation metrics and integration with a real ticketing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4B8A6"/>
                </a:solidFill>
                <a:latin typeface="Calibri"/>
              </a:rPr>
              <a:t>IIT PATNA  |  GENAI DEVELOPMENT PROGRAM  |  FINAL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515600" cy="1828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AI Customer Complaint &amp; Case Processing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429000"/>
            <a:ext cx="201168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CBD5E1"/>
                </a:solidFill>
                <a:latin typeface="Calibri"/>
              </a:rPr>
              <a:t>Batch 1  •  Project 1: AI-Powered Document Processing &amp; Business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7315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Saurabh Goyal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CBD5E1"/>
                </a:solidFill>
                <a:latin typeface="Calibri"/>
              </a:rPr>
              <a:t>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5989320"/>
            <a:ext cx="4206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0" i="0">
                <a:solidFill>
                  <a:srgbClr val="14B8A6"/>
                </a:solidFill>
                <a:latin typeface="Calibri"/>
              </a:rPr>
              <a:t>Python • LangChain • Pydantic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Bar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56070"/>
                </a:solidFill>
                <a:latin typeface="Calibri"/>
              </a:rPr>
              <a:t>AI Customer Complaint &amp; Case Processing System  |  Saurabh Goyal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418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56070"/>
                </a:solidFill>
                <a:latin typeface="Calibri"/>
              </a:rPr>
              <a:t>2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651760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457200" y="1499616"/>
            <a:ext cx="2651760" cy="2148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300"/>
              </a:spcAft>
            </a:pPr>
            <a:r>
              <a:rPr sz="1900" b="1" i="0">
                <a:solidFill>
                  <a:srgbClr val="0F1F3D"/>
                </a:solidFill>
                <a:latin typeface="Calibri"/>
              </a:rPr>
              <a:t>Unstructured inputs</a:t>
            </a:r>
          </a:p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Complaints arrive as PDFs, Word files, emails, chat logs and forms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9272" y="1417320"/>
            <a:ext cx="265176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319272" y="1499616"/>
            <a:ext cx="2651760" cy="2148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300"/>
              </a:spcAft>
            </a:pPr>
            <a:r>
              <a:rPr sz="1900" b="1" i="0">
                <a:solidFill>
                  <a:srgbClr val="0F1F3D"/>
                </a:solidFill>
                <a:latin typeface="Calibri"/>
              </a:rPr>
              <a:t>Manual triage</a:t>
            </a:r>
          </a:p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Agents read every document to find the customer, issue, category and urgency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1344" y="1417320"/>
            <a:ext cx="2651760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181344" y="1499616"/>
            <a:ext cx="2651760" cy="2148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300"/>
              </a:spcAft>
            </a:pPr>
            <a:r>
              <a:rPr sz="1900" b="1" i="0">
                <a:solidFill>
                  <a:srgbClr val="0F1F3D"/>
                </a:solidFill>
                <a:latin typeface="Calibri"/>
              </a:rPr>
              <a:t>Slow, uneven replies</a:t>
            </a:r>
          </a:p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Response quality and tone depend on who picks up the case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43416" y="1417320"/>
            <a:ext cx="265176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9043416" y="1499616"/>
            <a:ext cx="2651760" cy="2148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300"/>
              </a:spcAft>
            </a:pPr>
            <a:r>
              <a:rPr sz="1900" b="1" i="0">
                <a:solidFill>
                  <a:srgbClr val="0F1F3D"/>
                </a:solidFill>
                <a:latin typeface="Calibri"/>
              </a:rPr>
              <a:t>No structured record</a:t>
            </a:r>
          </a:p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Hard to report, route or escalate without clean case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069080"/>
            <a:ext cx="11274552" cy="1920240"/>
          </a:xfrm>
          <a:prstGeom prst="roundRect">
            <a:avLst>
              <a:gd name="adj" fmla="val 8000"/>
            </a:avLst>
          </a:prstGeom>
          <a:solidFill>
            <a:srgbClr val="E6F7F5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4B8A6"/>
                </a:solidFill>
                <a:latin typeface="Calibri"/>
              </a:rPr>
              <a:t>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1078992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F2937"/>
                </a:solidFill>
                <a:latin typeface="Calibri"/>
              </a:rPr>
              <a:t>Automatically turn each raw complaint document into (1) validated structured case data, (2) an empathetic customer reply and (3) an internal case summary — reliably, without hallucinated facts, and at batch scale.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Bar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56070"/>
                </a:solidFill>
                <a:latin typeface="Calibri"/>
              </a:rPr>
              <a:t>AI Customer Complaint &amp; Case Processing System  |  Saurabh Goyal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418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56070"/>
                </a:solidFill>
                <a:latin typeface="Calibri"/>
              </a:rPr>
              <a:t>3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2103120" cy="2926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0F1F3D"/>
                </a:solidFill>
                <a:latin typeface="Calibri"/>
              </a:rPr>
              <a:t>Input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data/ folder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PDF • DOCX • TXT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7 sample files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(1 deliberately corrupt)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417320"/>
            <a:ext cx="1005840" cy="10972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200400" y="1417320"/>
            <a:ext cx="100584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Task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417320"/>
            <a:ext cx="38404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C33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spcAft>
                <a:spcPts val="300"/>
              </a:spcAft>
            </a:pPr>
            <a:r>
              <a:rPr sz="1900" b="1" i="0">
                <a:solidFill>
                  <a:srgbClr val="0F1F3D"/>
                </a:solidFill>
                <a:latin typeface="Calibri"/>
              </a:rPr>
              <a:t>Structured Extraction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11 fields validated by a Pydantic schema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2743200"/>
            <a:ext cx="1005840" cy="10972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200400" y="2743200"/>
            <a:ext cx="100584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Task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743200"/>
            <a:ext cx="38404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C33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spcAft>
                <a:spcPts val="300"/>
              </a:spcAft>
            </a:pPr>
            <a:r>
              <a:rPr sz="1900" b="1" i="0">
                <a:solidFill>
                  <a:srgbClr val="0F1F3D"/>
                </a:solidFill>
                <a:latin typeface="Calibri"/>
              </a:rPr>
              <a:t>Customer Email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Empathetic, grounded reply with guardrail checks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4069080"/>
            <a:ext cx="1005840" cy="10972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200400" y="4069080"/>
            <a:ext cx="100584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Task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4069080"/>
            <a:ext cx="38404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C33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spcAft>
                <a:spcPts val="300"/>
              </a:spcAft>
            </a:pPr>
            <a:r>
              <a:rPr sz="1900" b="1" i="0">
                <a:solidFill>
                  <a:srgbClr val="0F1F3D"/>
                </a:solidFill>
                <a:latin typeface="Calibri"/>
              </a:rPr>
              <a:t>Case Summary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5-section internal brief incl. next 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1828800"/>
            <a:ext cx="2999232" cy="2926080"/>
          </a:xfrm>
          <a:prstGeom prst="roundRect">
            <a:avLst>
              <a:gd name="adj" fmla="val 8000"/>
            </a:avLst>
          </a:prstGeom>
          <a:solidFill>
            <a:srgbClr val="E6F7F5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0F1F3D"/>
                </a:solidFill>
                <a:latin typeface="Calibri"/>
              </a:rPr>
              <a:t>Outputs</a:t>
            </a:r>
          </a:p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onsolas"/>
              </a:rPr>
              <a:t>structured_data/*.json</a:t>
            </a:r>
          </a:p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onsolas"/>
              </a:rPr>
              <a:t>customer_emails/*.txt</a:t>
            </a:r>
          </a:p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onsolas"/>
              </a:rPr>
              <a:t>case_summaries/*.md</a:t>
            </a:r>
          </a:p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onsolas"/>
              </a:rPr>
              <a:t>final_report.csv</a:t>
            </a:r>
          </a:p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onsolas"/>
              </a:rPr>
              <a:t>run_summary.json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06040" y="3291840"/>
            <a:ext cx="548640" cy="0"/>
          </a:xfrm>
          <a:prstGeom prst="line">
            <a:avLst/>
          </a:prstGeom>
          <a:ln w="25400">
            <a:solidFill>
              <a:srgbClr val="1C33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92440" y="3291840"/>
            <a:ext cx="594360" cy="0"/>
          </a:xfrm>
          <a:prstGeom prst="line">
            <a:avLst/>
          </a:prstGeom>
          <a:ln w="25400">
            <a:solidFill>
              <a:srgbClr val="1C33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5577840"/>
            <a:ext cx="11274552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0F1F3D"/>
                </a:solidFill>
                <a:latin typeface="Consolas"/>
              </a:rPr>
              <a:t>One command:  python main.py --provider ollama --workers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Bar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56070"/>
                </a:solidFill>
                <a:latin typeface="Calibri"/>
              </a:rPr>
              <a:t>AI Customer Complaint &amp; Case Processing System  |  Saurabh Goyal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418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56070"/>
                </a:solidFill>
                <a:latin typeface="Calibri"/>
              </a:rPr>
              <a:t>4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325880"/>
            <a:ext cx="4846320" cy="306324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14B8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880360" y="1353312"/>
            <a:ext cx="4663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4B8A6"/>
                </a:solidFill>
                <a:latin typeface="Calibri"/>
              </a:rPr>
              <a:t>CaseProcessingPipeline  (runs once per document)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874519"/>
            <a:ext cx="2011680" cy="2286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0F1F3D"/>
                </a:solidFill>
                <a:latin typeface="Calibri"/>
              </a:rPr>
              <a:t>Input documents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data/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PDF, DOCX, TXT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874519"/>
            <a:ext cx="20116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C33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0F1F3D"/>
                </a:solidFill>
                <a:latin typeface="Calibri"/>
              </a:rPr>
              <a:t>1. Extraction chain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extraction prompt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structured_call()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contact sanitiser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→ ComplaintExtraction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1874519"/>
            <a:ext cx="2103120" cy="2286000"/>
          </a:xfrm>
          <a:prstGeom prst="roundRect">
            <a:avLst>
              <a:gd name="adj" fmla="val 8000"/>
            </a:avLst>
          </a:prstGeom>
          <a:solidFill>
            <a:srgbClr val="E6F7F5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49240" y="1920239"/>
            <a:ext cx="2103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4B8A6"/>
                </a:solidFill>
                <a:latin typeface="Calibri"/>
              </a:rPr>
              <a:t>RunnableParallel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286000"/>
            <a:ext cx="18288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C33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0F1F3D"/>
                </a:solidFill>
                <a:latin typeface="Calibri"/>
              </a:rPr>
              <a:t>2. Email chain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+ guardrails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3200400"/>
            <a:ext cx="18288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C33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0F1F3D"/>
                </a:solidFill>
                <a:latin typeface="Calibri"/>
              </a:rPr>
              <a:t>3. Summary chain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5 sections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74519"/>
            <a:ext cx="1828800" cy="2286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0F1F3D"/>
                </a:solidFill>
                <a:latin typeface="Calibri"/>
              </a:rPr>
              <a:t>Writers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JSON per doc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email .txt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summary .md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CSV report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run summary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0" y="1874519"/>
            <a:ext cx="1600200" cy="22860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output/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case pack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per document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+ batch report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434840"/>
            <a:ext cx="2011680" cy="1234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0F1F3D"/>
                </a:solidFill>
                <a:latin typeface="Calibri"/>
              </a:rPr>
              <a:t>Ingestion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pypdf • python-docx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normalise + truncate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23160" y="3017520"/>
            <a:ext cx="502920" cy="0"/>
          </a:xfrm>
          <a:prstGeom prst="line">
            <a:avLst/>
          </a:prstGeom>
          <a:ln w="25400">
            <a:solidFill>
              <a:srgbClr val="1C33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029200" y="3017520"/>
            <a:ext cx="274320" cy="0"/>
          </a:xfrm>
          <a:prstGeom prst="line">
            <a:avLst/>
          </a:prstGeom>
          <a:ln w="25400">
            <a:solidFill>
              <a:srgbClr val="1C33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98079" y="3017520"/>
            <a:ext cx="502921" cy="0"/>
          </a:xfrm>
          <a:prstGeom prst="line">
            <a:avLst/>
          </a:prstGeom>
          <a:ln w="25400">
            <a:solidFill>
              <a:srgbClr val="1C33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21240" y="3017520"/>
            <a:ext cx="274320" cy="0"/>
          </a:xfrm>
          <a:prstGeom prst="line">
            <a:avLst/>
          </a:prstGeom>
          <a:ln w="25400">
            <a:solidFill>
              <a:srgbClr val="1C33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371600" y="4206240"/>
            <a:ext cx="0" cy="201168"/>
          </a:xfrm>
          <a:prstGeom prst="line">
            <a:avLst/>
          </a:prstGeom>
          <a:ln w="25400">
            <a:solidFill>
              <a:srgbClr val="1C33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971800" y="4846320"/>
            <a:ext cx="44805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0F1F3D"/>
                </a:solidFill>
                <a:latin typeface="Calibri"/>
              </a:rPr>
              <a:t>LLM Factory  •  get_llm(settings)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OpenAI  •  Gemini  •  Ollama (local)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846320"/>
            <a:ext cx="1828800" cy="1234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0F1F3D"/>
                </a:solidFill>
                <a:latin typeface="Calibri"/>
              </a:rPr>
              <a:t>Config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.env → Settings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CLI flags override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0" y="4846320"/>
            <a:ext cx="1600200" cy="1234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0F1F3D"/>
                </a:solidFill>
                <a:latin typeface="Calibri"/>
              </a:rPr>
              <a:t>Logging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console +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logs/app.log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498079" y="5463540"/>
            <a:ext cx="502921" cy="0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977639" y="4206240"/>
            <a:ext cx="0" cy="621792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400800" y="4206240"/>
            <a:ext cx="0" cy="621792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Bar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Workflow: 3 AI Tasks + Two Levels of Parallelism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56070"/>
                </a:solidFill>
                <a:latin typeface="Calibri"/>
              </a:rPr>
              <a:t>AI Customer Complaint &amp; Case Processing System  |  Saurabh Goyal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418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56070"/>
                </a:solidFill>
                <a:latin typeface="Calibri"/>
              </a:rPr>
              <a:t>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alibri"/>
              </a:rPr>
              <a:t>Per document (LangChain)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57400"/>
            <a:ext cx="1737360" cy="1188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0F1F3D"/>
                </a:solidFill>
                <a:latin typeface="Calibri"/>
              </a:rPr>
              <a:t>Document text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normalised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057400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Task 1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Extraction → validated 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6459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C33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0F1F3D"/>
                </a:solidFill>
                <a:latin typeface="Calibri"/>
              </a:rPr>
              <a:t>Task 2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Customer email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27432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C33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0F1F3D"/>
                </a:solidFill>
                <a:latin typeface="Calibri"/>
              </a:rPr>
              <a:t>Task 3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Case summary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40280" y="2651760"/>
            <a:ext cx="365760" cy="0"/>
          </a:xfrm>
          <a:prstGeom prst="line">
            <a:avLst/>
          </a:prstGeom>
          <a:ln w="25400">
            <a:solidFill>
              <a:srgbClr val="1C33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617720" y="2103120"/>
            <a:ext cx="457200" cy="411480"/>
          </a:xfrm>
          <a:prstGeom prst="line">
            <a:avLst/>
          </a:prstGeom>
          <a:ln w="25400">
            <a:solidFill>
              <a:srgbClr val="1C33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617720" y="2788920"/>
            <a:ext cx="457200" cy="411480"/>
          </a:xfrm>
          <a:prstGeom prst="line">
            <a:avLst/>
          </a:prstGeom>
          <a:ln w="25400">
            <a:solidFill>
              <a:srgbClr val="1C33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937760" y="3703320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4B8A6"/>
                </a:solidFill>
                <a:latin typeface="Calibri"/>
              </a:rPr>
              <a:t>RunnableParallel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6583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 i="0">
                <a:solidFill>
                  <a:srgbClr val="14B8A6"/>
                </a:solidFill>
                <a:latin typeface="Calibri"/>
              </a:rPr>
              <a:t>■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Extraction first: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email + summary both reuse its JSON</a:t>
            </a:r>
          </a:p>
          <a:p>
            <a:pPr>
              <a:spcAft>
                <a:spcPts val="800"/>
              </a:spcAft>
            </a:pPr>
            <a:r>
              <a:rPr sz="1100" b="1" i="0">
                <a:solidFill>
                  <a:srgbClr val="14B8A6"/>
                </a:solidFill>
                <a:latin typeface="Calibri"/>
              </a:rPr>
              <a:t>■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Status per doc: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success / partial / failed</a:t>
            </a:r>
          </a:p>
          <a:p>
            <a:pPr>
              <a:spcAft>
                <a:spcPts val="800"/>
              </a:spcAft>
            </a:pPr>
            <a:r>
              <a:rPr sz="1100" b="1" i="0">
                <a:solidFill>
                  <a:srgbClr val="14B8A6"/>
                </a:solidFill>
                <a:latin typeface="Calibri"/>
              </a:rPr>
              <a:t>■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Real run (doc 001):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email 35.8 s ‖ summary 30.0 s, concurrent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1188720"/>
            <a:ext cx="4325112" cy="50749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89520" y="1280160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alibri"/>
              </a:rPr>
              <a:t>Across documents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1600200"/>
            <a:ext cx="40233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56070"/>
                </a:solidFill>
                <a:latin typeface="Consolas"/>
              </a:rPr>
              <a:t>ThreadPoolExecutor, max_workers=3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2057400"/>
            <a:ext cx="1920240" cy="548640"/>
          </a:xfrm>
          <a:prstGeom prst="roundRect">
            <a:avLst>
              <a:gd name="adj" fmla="val 8000"/>
            </a:avLst>
          </a:prstGeom>
          <a:solidFill>
            <a:srgbClr val="1C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doc-worker_0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057400"/>
            <a:ext cx="201168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F2937"/>
                </a:solidFill>
                <a:latin typeface="Consolas"/>
              </a:rPr>
              <a:t>001 → 005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715768"/>
            <a:ext cx="1920240" cy="548640"/>
          </a:xfrm>
          <a:prstGeom prst="roundRect">
            <a:avLst>
              <a:gd name="adj" fmla="val 8000"/>
            </a:avLst>
          </a:prstGeom>
          <a:solidFill>
            <a:srgbClr val="1C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doc-worker_1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715768"/>
            <a:ext cx="201168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F2937"/>
                </a:solidFill>
                <a:latin typeface="Consolas"/>
              </a:rPr>
              <a:t>002 → 006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3374136"/>
            <a:ext cx="1920240" cy="548640"/>
          </a:xfrm>
          <a:prstGeom prst="roundRect">
            <a:avLst>
              <a:gd name="adj" fmla="val 8000"/>
            </a:avLst>
          </a:prstGeom>
          <a:solidFill>
            <a:srgbClr val="1C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doc-worker_2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374136"/>
            <a:ext cx="201168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F2937"/>
                </a:solidFill>
                <a:latin typeface="Consolas"/>
              </a:rPr>
              <a:t>003 → 004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114800"/>
            <a:ext cx="4023360" cy="2103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0F1F3D"/>
                </a:solidFill>
                <a:latin typeface="Calibri"/>
              </a:rPr>
              <a:t>127.4 s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556070"/>
                </a:solidFill>
                <a:latin typeface="Calibri"/>
              </a:rPr>
              <a:t>wall time for 7 files, 3 workers</a:t>
            </a:r>
          </a:p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4B8A6"/>
                </a:solidFill>
                <a:latin typeface="Calibri"/>
              </a:rPr>
              <a:t>≈ 2.7× faster than sequential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6070"/>
                </a:solidFill>
                <a:latin typeface="Calibri"/>
              </a:rPr>
              <a:t>(6 × 58.0 s avg ≈ 348 s estimated)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Bar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Structured Output &amp; Pydantic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56070"/>
                </a:solidFill>
                <a:latin typeface="Calibri"/>
              </a:rPr>
              <a:t>AI Customer Complaint &amp; Case Processing System  |  Saurabh Goyal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418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56070"/>
                </a:solidFill>
                <a:latin typeface="Calibri"/>
              </a:rPr>
              <a:t>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alibri"/>
              </a:rPr>
              <a:t>ComplaintExtraction (11 fields)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45920"/>
          <a:ext cx="5669280" cy="422452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00400"/>
                <a:gridCol w="2468880"/>
              </a:tblGrid>
              <a:tr h="38404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F1F3D"/>
                          </a:solidFill>
                          <a:latin typeface="Consolas"/>
                        </a:rPr>
                        <a:t>customer_name</a:t>
                      </a:r>
                    </a:p>
                  </a:txBody>
                  <a:tcPr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str | null</a:t>
                      </a:r>
                    </a:p>
                  </a:txBody>
                  <a:tcPr marT="27432" marB="27432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F1F3D"/>
                          </a:solidFill>
                          <a:latin typeface="Consolas"/>
                        </a:rPr>
                        <a:t>email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str | null (normalised)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F1F3D"/>
                          </a:solidFill>
                          <a:latin typeface="Consolas"/>
                        </a:rPr>
                        <a:t>phone_number</a:t>
                      </a:r>
                    </a:p>
                  </a:txBody>
                  <a:tcPr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str | null</a:t>
                      </a:r>
                    </a:p>
                  </a:txBody>
                  <a:tcPr marT="27432" marB="27432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F1F3D"/>
                          </a:solidFill>
                          <a:latin typeface="Consolas"/>
                        </a:rPr>
                        <a:t>product_or_service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str | null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F1F3D"/>
                          </a:solidFill>
                          <a:latin typeface="Consolas"/>
                        </a:rPr>
                        <a:t>complaint_category</a:t>
                      </a:r>
                    </a:p>
                  </a:txBody>
                  <a:tcPr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enum (8)</a:t>
                      </a:r>
                    </a:p>
                  </a:txBody>
                  <a:tcPr marT="27432" marB="27432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F1F3D"/>
                          </a:solidFill>
                          <a:latin typeface="Consolas"/>
                        </a:rPr>
                        <a:t>issue_description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str (1-3 sentences)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F1F3D"/>
                          </a:solidFill>
                          <a:latin typeface="Consolas"/>
                        </a:rPr>
                        <a:t>resolution_provided</a:t>
                      </a:r>
                    </a:p>
                  </a:txBody>
                  <a:tcPr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str | null</a:t>
                      </a:r>
                    </a:p>
                  </a:txBody>
                  <a:tcPr marT="27432" marB="27432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F1F3D"/>
                          </a:solidFill>
                          <a:latin typeface="Consolas"/>
                        </a:rPr>
                        <a:t>is_complaint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Yes / No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F1F3D"/>
                          </a:solidFill>
                          <a:latin typeface="Consolas"/>
                        </a:rPr>
                        <a:t>escalation_required</a:t>
                      </a:r>
                    </a:p>
                  </a:txBody>
                  <a:tcPr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Yes / No</a:t>
                      </a:r>
                    </a:p>
                  </a:txBody>
                  <a:tcPr marT="27432" marB="27432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F1F3D"/>
                          </a:solidFill>
                          <a:latin typeface="Consolas"/>
                        </a:rPr>
                        <a:t>supporting_document_available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Yes / No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F1F3D"/>
                          </a:solidFill>
                          <a:latin typeface="Consolas"/>
                        </a:rPr>
                        <a:t>overall_case_status</a:t>
                      </a:r>
                    </a:p>
                  </a:txBody>
                  <a:tcPr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enum (5)</a:t>
                      </a:r>
                    </a:p>
                  </a:txBody>
                  <a:tcPr marT="27432" marB="2743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92240" y="1188720"/>
            <a:ext cx="5239512" cy="1417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F1F3D"/>
                </a:solidFill>
                <a:latin typeface="Calibri"/>
              </a:rPr>
              <a:t>Enums keep the model on-rails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Category: Billing, Product Defect, Service Quality, Delivery, Technical Issue, Refund, Account, Other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Status: Open, In Progress, Resolved, Escalated, Closed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8892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alibri"/>
              </a:rPr>
              <a:t>structured_call(): 3-step safety 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246120"/>
            <a:ext cx="640080" cy="8686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92240" y="3246120"/>
            <a:ext cx="640080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3246120"/>
            <a:ext cx="459943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F1F3D"/>
                </a:solidFill>
                <a:latin typeface="Calibri"/>
              </a:rPr>
              <a:t>Native structured output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with_structured_output (Ollama: JSON-schema grammar)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4270248"/>
            <a:ext cx="640080" cy="8686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92240" y="4270248"/>
            <a:ext cx="640080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4270248"/>
            <a:ext cx="459943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F1F3D"/>
                </a:solidFill>
                <a:latin typeface="Calibri"/>
              </a:rPr>
              <a:t>Fallback parser + repair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format instructions; strip &lt;think&gt;, fences, trailing commas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5294376"/>
            <a:ext cx="640080" cy="8686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92240" y="5294376"/>
            <a:ext cx="640080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5294376"/>
            <a:ext cx="459943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F1F3D"/>
                </a:solidFill>
                <a:latin typeface="Calibri"/>
              </a:rPr>
              <a:t>One retry with feedback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validation error sent back to the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Bar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Prompt Engineering &amp; Hallucination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56070"/>
                </a:solidFill>
                <a:latin typeface="Calibri"/>
              </a:rPr>
              <a:t>AI Customer Complaint &amp; Case Processing System  |  Saurabh Goyal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418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56070"/>
                </a:solidFill>
                <a:latin typeface="Calibri"/>
              </a:rPr>
              <a:t>7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361188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361188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Prompt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3611880" cy="3429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205740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 b="1" i="0">
                <a:solidFill>
                  <a:srgbClr val="14B8A6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Role-specific system prompts per task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14B8A6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Document wrapped in &lt;document&gt; tags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14B8A6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Explicit category &amp; status definitions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14B8A6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Status precedence rule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14B8A6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Temperature 0.1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8536" y="1325880"/>
            <a:ext cx="3611880" cy="548640"/>
          </a:xfrm>
          <a:prstGeom prst="rect">
            <a:avLst/>
          </a:prstGeom>
          <a:solidFill>
            <a:srgbClr val="1C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288536" y="1325880"/>
            <a:ext cx="361188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Grounding rules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8536" y="1874519"/>
            <a:ext cx="3611880" cy="3429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25696" y="205740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 b="1" i="0">
                <a:solidFill>
                  <a:srgbClr val="1C335E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Use ONLY facts in the document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1C335E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Missing field → null, never "N/A"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1C335E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Request ≠ resolution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1C335E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No promised refunds, dates or credits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1C335E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No placeholders like [Name]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9872" y="1325880"/>
            <a:ext cx="3611880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19872" y="1325880"/>
            <a:ext cx="361188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Code-level checks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1874519"/>
            <a:ext cx="3611880" cy="3429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57032" y="205740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 b="1" i="0">
                <a:solidFill>
                  <a:srgbClr val="F59E0B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Extracted email/phone must appear in source, else set to null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F59E0B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Email guardrail flags unknown contacts &amp; placeholders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F59E0B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Enum + validator enforce allowed values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86400"/>
            <a:ext cx="11274552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F1F3D"/>
                </a:solidFill>
                <a:latin typeface="Calibri"/>
              </a:rPr>
              <a:t>Evidence from the run: no phone in source (005) → phone_number = null, not invented. Unresolved cases (002, 004, 005) keep resolution_provided = null.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Bar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Error Handling &amp; Logging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56070"/>
                </a:solidFill>
                <a:latin typeface="Calibri"/>
              </a:rPr>
              <a:t>AI Customer Complaint &amp; Case Processing System  |  Saurabh Goyal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418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56070"/>
                </a:solidFill>
                <a:latin typeface="Calibri"/>
              </a:rPr>
              <a:t>8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09728" cy="65836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192024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F1F3D"/>
                </a:solidFill>
                <a:latin typeface="Calibri"/>
              </a:rPr>
              <a:t>File 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325880"/>
            <a:ext cx="420624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Corrupt / empty / unsupported files are recorded as ingestion errors; batch continues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12264"/>
            <a:ext cx="109728" cy="65836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2112264"/>
            <a:ext cx="192024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F1F3D"/>
                </a:solidFill>
                <a:latin typeface="Calibri"/>
              </a:rPr>
              <a:t>Task 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112264"/>
            <a:ext cx="420624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Each task runs guarded; extraction failure → failed, email/summary failure → partial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98648"/>
            <a:ext cx="109728" cy="65836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85800" y="2898648"/>
            <a:ext cx="192024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F1F3D"/>
                </a:solidFill>
                <a:latin typeface="Calibri"/>
              </a:rPr>
              <a:t>Worker 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898648"/>
            <a:ext cx="420624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_safe_process() guard: a worker thread never raises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85032"/>
            <a:ext cx="109728" cy="65836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3685032"/>
            <a:ext cx="192024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F1F3D"/>
                </a:solidFill>
                <a:latin typeface="Calibri"/>
              </a:rPr>
              <a:t>Provider 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685032"/>
            <a:ext cx="420624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LLM timeouts + max_retries; native → fallback → retry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71416"/>
            <a:ext cx="109728" cy="65836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5800" y="4471416"/>
            <a:ext cx="192024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F1F3D"/>
                </a:solidFill>
                <a:latin typeface="Calibri"/>
              </a:rPr>
              <a:t>Config level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4471416"/>
            <a:ext cx="420624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Settings.validate(): bad provider or missing API key → clear error, exit code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1325880"/>
            <a:ext cx="4645152" cy="342900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269480" y="1417320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B8A6"/>
                </a:solidFill>
                <a:latin typeface="Calibri"/>
              </a:rPr>
              <a:t>logs/app.log (real run excerpt)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1828800"/>
            <a:ext cx="4343400" cy="2834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FCA5A5"/>
                </a:solidFill>
                <a:latin typeface="Consolas"/>
              </a:rPr>
              <a:t>ERROR  ingestion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FFFFFF"/>
                </a:solidFill>
                <a:latin typeface="Consolas"/>
              </a:rPr>
              <a:t>Failed to ingest corrupted_007.pdf: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FFFFFF"/>
                </a:solidFill>
                <a:latin typeface="Consolas"/>
              </a:rPr>
              <a:t>PdfStreamError: Stream has ended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99F6E4"/>
                </a:solidFill>
                <a:latin typeface="Consolas"/>
              </a:rPr>
              <a:t>INFO  doc-worker_0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FFFFFF"/>
                </a:solidFill>
                <a:latin typeface="Consolas"/>
              </a:rPr>
              <a:t>[complaint_001] step 1/2 extraction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FFFFFF"/>
                </a:solidFill>
                <a:latin typeface="Consolas"/>
              </a:rPr>
              <a:t>ok in 24.30s (category=Billing)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FFFFFF"/>
                </a:solidFill>
                <a:latin typeface="Consolas"/>
              </a:rPr>
              <a:t>[complaint_001] step 2/2 email ok 35.77s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FFFFFF"/>
                </a:solidFill>
                <a:latin typeface="Consolas"/>
              </a:rPr>
              <a:t>[complaint_001] step 2/2 summary ok 30.04s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FFFFFF"/>
                </a:solidFill>
                <a:latin typeface="Consolas"/>
              </a:rPr>
              <a:t>[2/6] complaint_001.pdf done (success, 60.1s)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892040"/>
            <a:ext cx="4645152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6070"/>
                </a:solidFill>
                <a:latin typeface="Calibri"/>
              </a:rPr>
              <a:t>Format: time | level | thread | module | message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6070"/>
                </a:solidFill>
                <a:latin typeface="Calibri"/>
              </a:rPr>
              <a:t>Console + rotating file (logs/app.log)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Bar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Sample: complaint_001.pdf →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56070"/>
                </a:solidFill>
                <a:latin typeface="Calibri"/>
              </a:rPr>
              <a:t>AI Customer Complaint &amp; Case Processing System  |  Saurabh Goyal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418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56070"/>
                </a:solidFill>
                <a:latin typeface="Calibri"/>
              </a:rPr>
              <a:t>9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3566160" cy="4069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F1F3D"/>
                </a:solidFill>
                <a:latin typeface="Calibri"/>
              </a:rPr>
              <a:t>Input (PDF form, excerpt)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Customer: Arjun Mehta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Plan: FiberMax 300 Mbps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“My August 2026 invoice shows Rs. 2,398, which is exactly double.”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Resolution: refund of Rs. 1,199 (ref RF-77120), corrected invoice issued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Attachments: invoice, bank statement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69080" y="3268980"/>
            <a:ext cx="365760" cy="0"/>
          </a:xfrm>
          <a:prstGeom prst="line">
            <a:avLst/>
          </a:prstGeom>
          <a:ln w="31750">
            <a:solidFill>
              <a:srgbClr val="1C33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80560" y="1234440"/>
            <a:ext cx="3840480" cy="4069080"/>
          </a:xfrm>
          <a:prstGeom prst="roundRect">
            <a:avLst>
              <a:gd name="adj" fmla="val 8000"/>
            </a:avLst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17720" y="132588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4B8A6"/>
                </a:solidFill>
                <a:latin typeface="Calibri"/>
              </a:rPr>
              <a:t>Task 1: structured 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783080"/>
            <a:ext cx="3657600" cy="2560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nsolas"/>
              </a:rPr>
              <a:t>{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nsolas"/>
              </a:rPr>
              <a:t> "customer_name": "Arjun Mehta",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nsolas"/>
              </a:rPr>
              <a:t> "complaint_category": "Billing",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nsolas"/>
              </a:rPr>
              <a:t> "is_complaint": "Yes",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nsolas"/>
              </a:rPr>
              <a:t> "escalation_required": "No",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nsolas"/>
              </a:rPr>
              <a:t> "supporting_document_available": "Yes",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nsolas"/>
              </a:rPr>
              <a:t> "overall_case_status": "Closed"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749039"/>
            <a:ext cx="35661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+ email, phone, product, issue_description, resolution_provided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234440"/>
            <a:ext cx="3136392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C33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F1F3D"/>
                </a:solidFill>
                <a:latin typeface="Calibri"/>
              </a:rPr>
              <a:t>Task 2: customer email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Subject: Update on your billing concern - FiberMax 300 Mbps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“...a refund of Rs. 1,199 has been processed (Ref: RF-77120)”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3566160"/>
            <a:ext cx="3136392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C33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F1F3D"/>
                </a:solidFill>
                <a:latin typeface="Calibri"/>
              </a:rPr>
              <a:t>Task 3: case summary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Key issue: plan billed twice (Rs. 2,398 vs 1,199)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Next action: No further action required.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32120"/>
            <a:ext cx="11274552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F1F3D"/>
                </a:solidFill>
                <a:latin typeface="Calibri"/>
              </a:rPr>
              <a:t>Every fact in the email and summary traces back to the source: same refund amount, same reference, no invented dates or contacts.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Bar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Results: Real Run (Ollama glm-4.7-flash, local)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56070"/>
                </a:solidFill>
                <a:latin typeface="Calibri"/>
              </a:rPr>
              <a:t>AI Customer Complaint &amp; Case Processing System  |  Saurabh Goyal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418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56070"/>
                </a:solidFill>
                <a:latin typeface="Calibri"/>
              </a:rPr>
              <a:t>10 /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76809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508760"/>
                <a:gridCol w="1097280"/>
                <a:gridCol w="1234440"/>
                <a:gridCol w="914400"/>
                <a:gridCol w="100584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anchor="ctr" marL="54864" marR="54864"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 marL="54864" marR="54864"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Escalation</a:t>
                      </a:r>
                    </a:p>
                  </a:txBody>
                  <a:tcPr anchor="ctr" marL="54864" marR="54864"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Case status</a:t>
                      </a:r>
                    </a:p>
                  </a:txBody>
                  <a:tcPr anchor="ctr" marL="54864" marR="54864"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anchor="ctr" marL="54864" marR="54864"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Time (s)</a:t>
                      </a:r>
                    </a:p>
                  </a:txBody>
                  <a:tcPr anchor="ctr" marL="54864" marR="54864">
                    <a:solidFill>
                      <a:srgbClr val="0F1F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complaint_001.pdf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Billing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Closed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6A34A"/>
                          </a:solidFill>
                          <a:latin typeface="Calibri"/>
                        </a:rPr>
                        <a:t>success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60.1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complaint_002.pdf</a:t>
                      </a:r>
                    </a:p>
                  </a:txBody>
                  <a:tcPr anchor="ctr" marL="54864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Product Defect</a:t>
                      </a:r>
                    </a:p>
                  </a:txBody>
                  <a:tcPr anchor="ctr" marL="54864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DC262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54864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 anchor="ctr" marL="54864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6A34A"/>
                          </a:solidFill>
                          <a:latin typeface="Calibri"/>
                        </a:rPr>
                        <a:t>success</a:t>
                      </a:r>
                    </a:p>
                  </a:txBody>
                  <a:tcPr anchor="ctr" marL="54864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73.2</a:t>
                      </a:r>
                    </a:p>
                  </a:txBody>
                  <a:tcPr anchor="ctr" marL="54864" marR="54864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complaint_003.txt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Technical Issue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6A34A"/>
                          </a:solidFill>
                          <a:latin typeface="Calibri"/>
                        </a:rPr>
                        <a:t>success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47.7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complaint_004.docx</a:t>
                      </a:r>
                    </a:p>
                  </a:txBody>
                  <a:tcPr anchor="ctr" marL="54864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Delivery</a:t>
                      </a:r>
                    </a:p>
                  </a:txBody>
                  <a:tcPr anchor="ctr" marL="54864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DC262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54864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Escalated</a:t>
                      </a:r>
                    </a:p>
                  </a:txBody>
                  <a:tcPr anchor="ctr" marL="54864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6A34A"/>
                          </a:solidFill>
                          <a:latin typeface="Calibri"/>
                        </a:rPr>
                        <a:t>success</a:t>
                      </a:r>
                    </a:p>
                  </a:txBody>
                  <a:tcPr anchor="ctr" marL="54864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55.0</a:t>
                      </a:r>
                    </a:p>
                  </a:txBody>
                  <a:tcPr anchor="ctr" marL="54864" marR="54864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complaint_005.pdf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Refund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DC262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Escalated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6A34A"/>
                          </a:solidFill>
                          <a:latin typeface="Calibri"/>
                        </a:rPr>
                        <a:t>success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57.7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complaint_006.txt</a:t>
                      </a:r>
                    </a:p>
                  </a:txBody>
                  <a:tcPr anchor="ctr" marL="54864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anchor="ctr" marL="54864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54864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Closed</a:t>
                      </a:r>
                    </a:p>
                  </a:txBody>
                  <a:tcPr anchor="ctr" marL="54864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6A34A"/>
                          </a:solidFill>
                          <a:latin typeface="Calibri"/>
                        </a:rPr>
                        <a:t>success</a:t>
                      </a:r>
                    </a:p>
                  </a:txBody>
                  <a:tcPr anchor="ctr" marL="54864" marR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54.0</a:t>
                      </a:r>
                    </a:p>
                  </a:txBody>
                  <a:tcPr anchor="ctr" marL="54864" marR="54864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corrupted_007.pdf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DC2626"/>
                          </a:solidFill>
                          <a:latin typeface="Calibri"/>
                        </a:rPr>
                        <a:t>failed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983480"/>
            <a:ext cx="7680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56070"/>
                </a:solidFill>
                <a:latin typeface="Calibri"/>
              </a:rPr>
              <a:t>corrupted_007.pdf: PdfStreamError → logged, reported, batch continued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280160"/>
            <a:ext cx="3227832" cy="1078992"/>
          </a:xfrm>
          <a:prstGeom prst="roundRect">
            <a:avLst>
              <a:gd name="adj" fmla="val 8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41080" y="1325880"/>
            <a:ext cx="30175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F1F3D"/>
                </a:solidFill>
                <a:latin typeface="Calibri"/>
              </a:rPr>
              <a:t>6/7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901952"/>
            <a:ext cx="30175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6070"/>
                </a:solidFill>
                <a:latin typeface="Calibri"/>
              </a:rPr>
              <a:t>documents succeeded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2496312"/>
            <a:ext cx="3227832" cy="1078992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41080" y="2542032"/>
            <a:ext cx="30175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F1F3D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118104"/>
            <a:ext cx="30175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6070"/>
                </a:solidFill>
                <a:latin typeface="Calibri"/>
              </a:rPr>
              <a:t>failed gracefully (corrupt PDF)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3712464"/>
            <a:ext cx="3227832" cy="1078992"/>
          </a:xfrm>
          <a:prstGeom prst="roundRect">
            <a:avLst>
              <a:gd name="adj" fmla="val 8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41080" y="3758184"/>
            <a:ext cx="30175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F1F3D"/>
                </a:solidFill>
                <a:latin typeface="Calibri"/>
              </a:rPr>
              <a:t>127.4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4334256"/>
            <a:ext cx="30175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6070"/>
                </a:solidFill>
                <a:latin typeface="Calibri"/>
              </a:rPr>
              <a:t>total, 3 workers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4928616"/>
            <a:ext cx="3227832" cy="1078992"/>
          </a:xfrm>
          <a:prstGeom prst="roundRect">
            <a:avLst>
              <a:gd name="adj" fmla="val 8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641080" y="4974336"/>
            <a:ext cx="30175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F1F3D"/>
                </a:solidFill>
                <a:latin typeface="Calibri"/>
              </a:rPr>
              <a:t>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5550408"/>
            <a:ext cx="30175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6070"/>
                </a:solidFill>
                <a:latin typeface="Calibri"/>
              </a:rPr>
              <a:t>pytest tests passing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Bar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Tech Stack &amp; Engineering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56070"/>
                </a:solidFill>
                <a:latin typeface="Calibri"/>
              </a:rPr>
              <a:t>AI Customer Complaint &amp; Case Processing System  |  Saurabh Goyal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418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56070"/>
                </a:solidFill>
                <a:latin typeface="Calibri"/>
              </a:rP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4B8A6"/>
                </a:solidFill>
                <a:latin typeface="Calibri"/>
              </a:rPr>
              <a:t>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5303520" cy="6217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265176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F3D"/>
                </a:solidFill>
                <a:latin typeface="Calibri"/>
              </a:rPr>
              <a:t>Python 3.11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737360"/>
            <a:ext cx="246888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core language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68880"/>
            <a:ext cx="5303520" cy="6217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4360" y="2468880"/>
            <a:ext cx="265176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F3D"/>
                </a:solidFill>
                <a:latin typeface="Calibri"/>
              </a:rPr>
              <a:t>LangChain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468880"/>
            <a:ext cx="246888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prompts, runnables, RunnableParallel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5303520" cy="6217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4360" y="3200400"/>
            <a:ext cx="265176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F3D"/>
                </a:solidFill>
                <a:latin typeface="Calibri"/>
              </a:rPr>
              <a:t>Pydantic v2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200400"/>
            <a:ext cx="246888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schemas &amp; 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31920"/>
            <a:ext cx="5303520" cy="6217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3931920"/>
            <a:ext cx="265176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F3D"/>
                </a:solidFill>
                <a:latin typeface="Calibri"/>
              </a:rPr>
              <a:t>pypdf / python-docx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3931920"/>
            <a:ext cx="246888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document ingestion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663440"/>
            <a:ext cx="5303520" cy="6217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4663440"/>
            <a:ext cx="265176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F3D"/>
                </a:solidFill>
                <a:latin typeface="Calibri"/>
              </a:rPr>
              <a:t>OpenAI • Gemini • Ollama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4663440"/>
            <a:ext cx="246888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swappable LLM providers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394960"/>
            <a:ext cx="5303520" cy="62179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4360" y="5394960"/>
            <a:ext cx="265176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F3D"/>
                </a:solidFill>
                <a:latin typeface="Calibri"/>
              </a:rPr>
              <a:t>pytest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394960"/>
            <a:ext cx="246888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28 offline tests (fake LLM)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1234440"/>
            <a:ext cx="53949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4B8A6"/>
                </a:solidFill>
                <a:latin typeface="Calibri"/>
              </a:rPr>
              <a:t>Practices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1737360"/>
            <a:ext cx="542239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14B8A6"/>
                </a:solidFill>
                <a:latin typeface="Calibri"/>
              </a:rPr>
              <a:t>■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Config via .env: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provider, model, workers, timeouts; CLI flags override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14B8A6"/>
                </a:solidFill>
                <a:latin typeface="Calibri"/>
              </a:rPr>
              <a:t>■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Provider-agnostic factory: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get_llm() lazily imports only the chosen SDK; runs fully local with Ollama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14B8A6"/>
                </a:solidFill>
                <a:latin typeface="Calibri"/>
              </a:rPr>
              <a:t>■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Dependency injection: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pipeline takes any chat model, so tests use a fake LLM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14B8A6"/>
                </a:solidFill>
                <a:latin typeface="Calibri"/>
              </a:rPr>
              <a:t>■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Modular package: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ingestion • prompts • chains • pipeline • writers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14B8A6"/>
                </a:solidFill>
                <a:latin typeface="Calibri"/>
              </a:rPr>
              <a:t>■ 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Reproducible: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Git, requirements.txt, sample-data generator script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Bar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8755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56070"/>
                </a:solidFill>
                <a:latin typeface="Calibri"/>
              </a:rPr>
              <a:t>AI Customer Complaint &amp; Case Processing System  |  Saurabh Goyal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41832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56070"/>
                </a:solidFill>
                <a:latin typeface="Calibri"/>
              </a:rP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394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DC2626"/>
                </a:solidFill>
                <a:latin typeface="Calibri"/>
              </a:rP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5394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300" b="1" i="0">
                <a:solidFill>
                  <a:srgbClr val="DC2626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1F2937"/>
                </a:solidFill>
                <a:latin typeface="Calibri"/>
              </a:rPr>
              <a:t>No OCR: scanned PDFs yield no text</a:t>
            </a:r>
          </a:p>
          <a:p>
            <a:pPr>
              <a:spcAft>
                <a:spcPts val="1400"/>
              </a:spcAft>
            </a:pPr>
            <a:r>
              <a:rPr sz="1300" b="1" i="0">
                <a:solidFill>
                  <a:srgbClr val="DC2626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1F2937"/>
                </a:solidFill>
                <a:latin typeface="Calibri"/>
              </a:rPr>
              <a:t>Local model: ~58 s per document</a:t>
            </a:r>
          </a:p>
          <a:p>
            <a:pPr>
              <a:spcAft>
                <a:spcPts val="1400"/>
              </a:spcAft>
            </a:pPr>
            <a:r>
              <a:rPr sz="1300" b="1" i="0">
                <a:solidFill>
                  <a:srgbClr val="DC2626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1F2937"/>
                </a:solidFill>
                <a:latin typeface="Calibri"/>
              </a:rPr>
              <a:t>Email guardrail warns, no auto-rewrite</a:t>
            </a:r>
          </a:p>
          <a:p>
            <a:pPr>
              <a:spcAft>
                <a:spcPts val="1400"/>
              </a:spcAft>
            </a:pPr>
            <a:r>
              <a:rPr sz="1300" b="1" i="0">
                <a:solidFill>
                  <a:srgbClr val="DC2626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1F2937"/>
                </a:solidFill>
                <a:latin typeface="Calibri"/>
              </a:rPr>
              <a:t>Small test set (7 files), no accuracy 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1188720"/>
            <a:ext cx="5394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6A34A"/>
                </a:solidFill>
                <a:latin typeface="Calibri"/>
              </a:rPr>
              <a:t>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1783080"/>
            <a:ext cx="5394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300" b="1" i="0">
                <a:solidFill>
                  <a:srgbClr val="16A34A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1F2937"/>
                </a:solidFill>
                <a:latin typeface="Calibri"/>
              </a:rPr>
              <a:t>OCR (Tesseract) + .eml ingestion</a:t>
            </a:r>
          </a:p>
          <a:p>
            <a:pPr>
              <a:spcAft>
                <a:spcPts val="1400"/>
              </a:spcAft>
            </a:pPr>
            <a:r>
              <a:rPr sz="1300" b="1" i="0">
                <a:solidFill>
                  <a:srgbClr val="16A34A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1F2937"/>
                </a:solidFill>
                <a:latin typeface="Calibri"/>
              </a:rPr>
              <a:t>Human-in-the-loop review UI + REST API</a:t>
            </a:r>
          </a:p>
          <a:p>
            <a:pPr>
              <a:spcAft>
                <a:spcPts val="1400"/>
              </a:spcAft>
            </a:pPr>
            <a:r>
              <a:rPr sz="1300" b="1" i="0">
                <a:solidFill>
                  <a:srgbClr val="16A34A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1F2937"/>
                </a:solidFill>
                <a:latin typeface="Calibri"/>
              </a:rPr>
              <a:t>Labelled eval set, field-level accuracy</a:t>
            </a:r>
          </a:p>
          <a:p>
            <a:pPr>
              <a:spcAft>
                <a:spcPts val="1400"/>
              </a:spcAft>
            </a:pPr>
            <a:r>
              <a:rPr sz="1300" b="1" i="0">
                <a:solidFill>
                  <a:srgbClr val="16A34A"/>
                </a:solidFill>
                <a:latin typeface="Calibri"/>
              </a:rPr>
              <a:t>■  </a:t>
            </a:r>
            <a:r>
              <a:rPr sz="1900" b="0" i="0">
                <a:solidFill>
                  <a:srgbClr val="1F2937"/>
                </a:solidFill>
                <a:latin typeface="Calibri"/>
              </a:rPr>
              <a:t>CRM / ticketing integration, auto-routing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4892040"/>
            <a:ext cx="12191695" cy="1463040"/>
          </a:xfrm>
          <a:prstGeom prst="rect">
            <a:avLst/>
          </a:prstGeom>
          <a:solidFill>
            <a:srgbClr val="0F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7200" y="4983480"/>
            <a:ext cx="11274552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Thank you  •  Questions?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15000"/>
            <a:ext cx="11274552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14B8A6"/>
                </a:solidFill>
                <a:latin typeface="Calibri"/>
              </a:rPr>
              <a:t>Saurabh Goyal  |  IIT Patna GenAI Development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